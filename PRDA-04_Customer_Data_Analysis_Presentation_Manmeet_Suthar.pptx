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69680" y="640080"/>
            <a:ext cx="2286000" cy="2286000"/>
          </a:xfrm>
          <a:prstGeom prst="roundRect">
            <a:avLst/>
          </a:prstGeom>
          <a:solidFill>
            <a:srgbClr val="2D6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75520" y="2926080"/>
            <a:ext cx="1554480" cy="1554480"/>
          </a:xfrm>
          <a:prstGeom prst="roundRect">
            <a:avLst/>
          </a:prstGeom>
          <a:solidFill>
            <a:srgbClr val="24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955279" y="3840480"/>
            <a:ext cx="1188720" cy="1188720"/>
          </a:xfrm>
          <a:prstGeom prst="roundRect">
            <a:avLst/>
          </a:prstGeom>
          <a:solidFill>
            <a:srgbClr val="DA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713232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AECDE7"/>
                </a:solidFill>
                <a:latin typeface="Aptos"/>
              </a:defRPr>
            </a:pPr>
            <a:r>
              <a:t>DATA ANALYTICS INTERNSHIP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7498079" cy="1371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Customer Data</a:t>
            </a:r>
          </a:p>
          <a:p>
            <a:pPr>
              <a:spcAft>
                <a:spcPts val="7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46120"/>
            <a:ext cx="6583680" cy="6400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DEE8F2"/>
                </a:solidFill>
                <a:latin typeface="Aptos"/>
              </a:defRPr>
            </a:pPr>
            <a:r>
              <a:t>Customer shopping behaviour using Microsoft 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74920"/>
            <a:ext cx="530352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Prepared by  |  Manmeet Suthar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532120"/>
            <a:ext cx="530352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ECDE7"/>
                </a:solidFill>
                <a:latin typeface="Aptos"/>
              </a:defRPr>
            </a:pPr>
            <a:r>
              <a:t>PRDA-04  •  Istanbul shopping data  •  2021–2023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263640"/>
            <a:ext cx="13716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2D6399"/>
                </a:solidFill>
                <a:latin typeface="Aptos"/>
              </a:defRPr>
            </a:pPr>
            <a:r>
              <a:t>PRDA-04 | CUSTOMER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304E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50292"/>
          </a:xfrm>
          <a:prstGeom prst="rect">
            <a:avLst/>
          </a:prstGeom>
          <a:solidFill>
            <a:srgbClr val="24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502920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4858B"/>
                </a:solidFill>
                <a:latin typeface="Aptos"/>
              </a:defRPr>
            </a:pPr>
            <a:r>
              <a:t>PROJECT 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120640" cy="20116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9304E"/>
                </a:solidFill>
                <a:latin typeface="Aptos"/>
              </a:defRPr>
            </a:pPr>
            <a:r>
              <a:t>Understand how customers shop across different segments and how those patterns can support better business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08760"/>
            <a:ext cx="502920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4858B"/>
                </a:solidFill>
                <a:latin typeface="Aptos"/>
              </a:defRPr>
            </a:pPr>
            <a:r>
              <a:t>ANALYSIS DIMENSIONS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74519"/>
            <a:ext cx="5212080" cy="3474720"/>
          </a:xfrm>
          <a:prstGeom prst="rect">
            <a:avLst/>
          </a:prstGeom>
          <a:noFill/>
        </p:spPr>
        <p:txBody>
          <a:bodyPr wrap="square" lIns="45720" rIns="73152" bIns="18288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Gender and age-group behaviour</a:t>
            </a:r>
          </a:p>
          <a:p>
            <a:pPr>
              <a:spcAft>
                <a:spcPts val="10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Product categories, quantity and revenue</a:t>
            </a:r>
          </a:p>
          <a:p>
            <a:pPr>
              <a:spcAft>
                <a:spcPts val="10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Payment method preferences</a:t>
            </a:r>
          </a:p>
          <a:p>
            <a:pPr>
              <a:spcAft>
                <a:spcPts val="10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Shopping mall and transaction-date patterns</a:t>
            </a:r>
          </a:p>
          <a:p>
            <a:pPr>
              <a:spcAft>
                <a:spcPts val="10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Power BI KPI cards and comparison visuals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9672"/>
            <a:ext cx="73152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E7084"/>
                </a:solidFill>
                <a:latin typeface="Aptos"/>
              </a:defRPr>
            </a:pPr>
            <a:r>
              <a:t>Prepared by Manmeet Suthar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19672"/>
            <a:ext cx="5943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E7084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2D6399"/>
                </a:solidFill>
                <a:latin typeface="Aptos"/>
              </a:defRPr>
            </a:pPr>
            <a:r>
              <a:t>PRDA-04 | CUSTOMER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304E"/>
                </a:solidFill>
                <a:latin typeface="Aptos"/>
              </a:defRPr>
            </a:pPr>
            <a:r>
              <a:t>Dataset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50292"/>
          </a:xfrm>
          <a:prstGeom prst="rect">
            <a:avLst/>
          </a:prstGeom>
          <a:solidFill>
            <a:srgbClr val="24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468880" cy="1325880"/>
          </a:xfrm>
          <a:prstGeom prst="roundRect">
            <a:avLst/>
          </a:prstGeom>
          <a:solidFill>
            <a:srgbClr val="EEF3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82296" cy="1325880"/>
          </a:xfrm>
          <a:prstGeom prst="rect">
            <a:avLst/>
          </a:prstGeom>
          <a:solidFill>
            <a:srgbClr val="2D6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73351"/>
            <a:ext cx="2121408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5E7084"/>
                </a:solidFill>
                <a:latin typeface="Aptos"/>
              </a:defRPr>
            </a:pPr>
            <a:r>
              <a:t>SHOPPING MALLS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39112"/>
            <a:ext cx="2121408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304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50591"/>
            <a:ext cx="2121408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E7084"/>
                </a:solidFill>
                <a:latin typeface="Aptos"/>
              </a:defRPr>
            </a:pPr>
            <a:r>
              <a:t>Locations in Istanbul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508760"/>
            <a:ext cx="2468880" cy="1325880"/>
          </a:xfrm>
          <a:prstGeom prst="roundRect">
            <a:avLst/>
          </a:prstGeom>
          <a:solidFill>
            <a:srgbClr val="EEF3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508760"/>
            <a:ext cx="82296" cy="1325880"/>
          </a:xfrm>
          <a:prstGeom prst="rect">
            <a:avLst/>
          </a:prstGeom>
          <a:solidFill>
            <a:srgbClr val="24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1673351"/>
            <a:ext cx="2121408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5E7084"/>
                </a:solidFill>
                <a:latin typeface="Aptos"/>
              </a:defRPr>
            </a:pPr>
            <a:r>
              <a:t>TIME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039112"/>
            <a:ext cx="2121408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304E"/>
                </a:solidFill>
                <a:latin typeface="Aptos"/>
              </a:defRPr>
            </a:pPr>
            <a:r>
              <a:t>2021–23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2450591"/>
            <a:ext cx="2121408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E7084"/>
                </a:solidFill>
                <a:latin typeface="Aptos"/>
              </a:defRPr>
            </a:pPr>
            <a:r>
              <a:t>Three calendar years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508760"/>
            <a:ext cx="2468880" cy="1325880"/>
          </a:xfrm>
          <a:prstGeom prst="roundRect">
            <a:avLst/>
          </a:prstGeom>
          <a:solidFill>
            <a:srgbClr val="EEF3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508760"/>
            <a:ext cx="82296" cy="1325880"/>
          </a:xfrm>
          <a:prstGeom prst="rect">
            <a:avLst/>
          </a:prstGeom>
          <a:solidFill>
            <a:srgbClr val="DA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7" y="1673351"/>
            <a:ext cx="2121408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5E7084"/>
                </a:solidFill>
                <a:latin typeface="Aptos"/>
              </a:defRPr>
            </a:pPr>
            <a:r>
              <a:t>PRODUCT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7" y="2039112"/>
            <a:ext cx="2121408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304E"/>
                </a:solidFill>
                <a:latin typeface="Aptos"/>
              </a:defRPr>
            </a:pPr>
            <a:r>
              <a:t>TL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7" y="2450591"/>
            <a:ext cx="2121408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E7084"/>
                </a:solidFill>
                <a:latin typeface="Aptos"/>
              </a:defRPr>
            </a:pPr>
            <a:r>
              <a:t>Turkish Lira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1508760"/>
            <a:ext cx="2468880" cy="1325880"/>
          </a:xfrm>
          <a:prstGeom prst="roundRect">
            <a:avLst/>
          </a:prstGeom>
          <a:solidFill>
            <a:srgbClr val="EEF3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32520" y="1508760"/>
            <a:ext cx="82296" cy="1325880"/>
          </a:xfrm>
          <a:prstGeom prst="rect">
            <a:avLst/>
          </a:prstGeom>
          <a:solidFill>
            <a:srgbClr val="2D6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33688" y="1673351"/>
            <a:ext cx="2121408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5E7084"/>
                </a:solidFill>
                <a:latin typeface="Aptos"/>
              </a:defRPr>
            </a:pPr>
            <a:r>
              <a:t>DATA 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8" y="2039112"/>
            <a:ext cx="2121408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304E"/>
                </a:solidFill>
                <a:latin typeface="Aptos"/>
              </a:defRPr>
            </a:pPr>
            <a:r>
              <a:t>Retail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33688" y="2450591"/>
            <a:ext cx="2121408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E7084"/>
                </a:solidFill>
                <a:latin typeface="Aptos"/>
              </a:defRPr>
            </a:pPr>
            <a:r>
              <a:t>Customer transactions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337560"/>
            <a:ext cx="502920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4858B"/>
                </a:solidFill>
                <a:latin typeface="Aptos"/>
              </a:defRPr>
            </a:pPr>
            <a:r>
              <a:t>KEY FIELDS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703320"/>
            <a:ext cx="5120640" cy="2057400"/>
          </a:xfrm>
          <a:prstGeom prst="rect">
            <a:avLst/>
          </a:prstGeom>
          <a:noFill/>
        </p:spPr>
        <p:txBody>
          <a:bodyPr wrap="square" lIns="45720" rIns="73152" bIns="18288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Invoice number and customer ID</a:t>
            </a:r>
          </a:p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Gender and age</a:t>
            </a:r>
          </a:p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Product category, quantity and unit price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703320"/>
            <a:ext cx="5029200" cy="2057400"/>
          </a:xfrm>
          <a:prstGeom prst="rect">
            <a:avLst/>
          </a:prstGeom>
          <a:noFill/>
        </p:spPr>
        <p:txBody>
          <a:bodyPr wrap="square" lIns="45720" rIns="73152" bIns="18288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Payment method and invoice date</a:t>
            </a:r>
          </a:p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Shopping mall location</a:t>
            </a:r>
          </a:p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Transaction-level shopping information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9672"/>
            <a:ext cx="73152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E7084"/>
                </a:solidFill>
                <a:latin typeface="Aptos"/>
              </a:defRPr>
            </a:pPr>
            <a:r>
              <a:t>Prepared by Manmeet Suthar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519672"/>
            <a:ext cx="5943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E7084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2D6399"/>
                </a:solidFill>
                <a:latin typeface="Aptos"/>
              </a:defRPr>
            </a:pPr>
            <a:r>
              <a:t>PRDA-04 | CUSTOMER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304E"/>
                </a:solidFill>
                <a:latin typeface="Aptos"/>
              </a:defRPr>
            </a:pPr>
            <a:r>
              <a:t>Data preparation &amp; measures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50292"/>
          </a:xfrm>
          <a:prstGeom prst="rect">
            <a:avLst/>
          </a:prstGeom>
          <a:solidFill>
            <a:srgbClr val="24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691640"/>
            <a:ext cx="594360" cy="594360"/>
          </a:xfrm>
          <a:prstGeom prst="ellipse">
            <a:avLst/>
          </a:prstGeom>
          <a:solidFill>
            <a:srgbClr val="2D6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56231"/>
            <a:ext cx="59436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233172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9304E"/>
                </a:solidFill>
                <a:latin typeface="Aptos"/>
              </a:defRPr>
            </a:pPr>
            <a:r>
              <a:t>Import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71800"/>
            <a:ext cx="2331720" cy="1417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2B34"/>
                </a:solidFill>
                <a:latin typeface="Aptos"/>
              </a:defRPr>
            </a:pPr>
            <a:r>
              <a:t>Load customer transaction data into Power BI.</a:t>
            </a:r>
          </a:p>
        </p:txBody>
      </p:sp>
      <p:sp>
        <p:nvSpPr>
          <p:cNvPr id="9" name="Oval 8"/>
          <p:cNvSpPr/>
          <p:nvPr/>
        </p:nvSpPr>
        <p:spPr>
          <a:xfrm>
            <a:off x="3538728" y="1691640"/>
            <a:ext cx="594360" cy="594360"/>
          </a:xfrm>
          <a:prstGeom prst="ellipse">
            <a:avLst/>
          </a:prstGeom>
          <a:solidFill>
            <a:srgbClr val="24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856231"/>
            <a:ext cx="59436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2514600"/>
            <a:ext cx="233172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9304E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971800"/>
            <a:ext cx="2331720" cy="1417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2B34"/>
                </a:solidFill>
                <a:latin typeface="Aptos"/>
              </a:defRPr>
            </a:pPr>
            <a:r>
              <a:t>Check data types, missing values, duplicates and unusual values.</a:t>
            </a:r>
          </a:p>
        </p:txBody>
      </p:sp>
      <p:sp>
        <p:nvSpPr>
          <p:cNvPr id="13" name="Oval 12"/>
          <p:cNvSpPr/>
          <p:nvPr/>
        </p:nvSpPr>
        <p:spPr>
          <a:xfrm>
            <a:off x="6391656" y="1691640"/>
            <a:ext cx="594360" cy="594360"/>
          </a:xfrm>
          <a:prstGeom prst="ellipse">
            <a:avLst/>
          </a:prstGeom>
          <a:solidFill>
            <a:srgbClr val="DA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1856231"/>
            <a:ext cx="59436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2514600"/>
            <a:ext cx="233172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9304E"/>
                </a:solidFill>
                <a:latin typeface="Aptos"/>
              </a:defRPr>
            </a:pPr>
            <a:r>
              <a:t>Calculate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2971800"/>
            <a:ext cx="2331720" cy="1417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2B34"/>
                </a:solidFill>
                <a:latin typeface="Aptos"/>
              </a:defRPr>
            </a:pPr>
            <a:r>
              <a:t>Create revenue and customer / transaction / product measures.</a:t>
            </a:r>
          </a:p>
        </p:txBody>
      </p:sp>
      <p:sp>
        <p:nvSpPr>
          <p:cNvPr id="17" name="Oval 16"/>
          <p:cNvSpPr/>
          <p:nvPr/>
        </p:nvSpPr>
        <p:spPr>
          <a:xfrm>
            <a:off x="9244584" y="1691640"/>
            <a:ext cx="594360" cy="594360"/>
          </a:xfrm>
          <a:prstGeom prst="ellipse">
            <a:avLst/>
          </a:prstGeom>
          <a:solidFill>
            <a:srgbClr val="2D6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44584" y="1856231"/>
            <a:ext cx="59436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4584" y="2514600"/>
            <a:ext cx="233172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9304E"/>
                </a:solidFill>
                <a:latin typeface="Aptos"/>
              </a:defRPr>
            </a:pPr>
            <a:r>
              <a:t>Visualize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4" y="2971800"/>
            <a:ext cx="2331720" cy="1417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2B34"/>
                </a:solidFill>
                <a:latin typeface="Aptos"/>
              </a:defRPr>
            </a:pPr>
            <a:r>
              <a:t>Compare segments with KPI cards and charts.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10515600" cy="7315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4858B"/>
                </a:solidFill>
                <a:latin typeface="Aptos"/>
              </a:defRPr>
            </a:pPr>
            <a:r>
              <a:t>Revenue = Quantity × Unit Price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23560"/>
            <a:ext cx="1024128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5E7084"/>
                </a:solidFill>
                <a:latin typeface="Aptos"/>
              </a:defRPr>
            </a:pPr>
            <a:r>
              <a:t>Use distinct customer IDs for customer count and distinct invoice numbers for transaction count.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9672"/>
            <a:ext cx="73152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E7084"/>
                </a:solidFill>
                <a:latin typeface="Aptos"/>
              </a:defRPr>
            </a:pPr>
            <a:r>
              <a:t>Prepared by Manmeet Suthar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19672"/>
            <a:ext cx="5943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E7084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2D6399"/>
                </a:solidFill>
                <a:latin typeface="Aptos"/>
              </a:defRPr>
            </a:pPr>
            <a:r>
              <a:t>PRDA-04 | CUSTOMER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304E"/>
                </a:solidFill>
                <a:latin typeface="Aptos"/>
              </a:defRPr>
            </a:pPr>
            <a:r>
              <a:t>Power BI dashboard — headline KPIs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50292"/>
          </a:xfrm>
          <a:prstGeom prst="rect">
            <a:avLst/>
          </a:prstGeom>
          <a:solidFill>
            <a:srgbClr val="24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029200" cy="1600200"/>
          </a:xfrm>
          <a:prstGeom prst="roundRect">
            <a:avLst/>
          </a:prstGeom>
          <a:solidFill>
            <a:srgbClr val="EEF3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82296" cy="1600200"/>
          </a:xfrm>
          <a:prstGeom prst="rect">
            <a:avLst/>
          </a:prstGeom>
          <a:solidFill>
            <a:srgbClr val="2D6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64792"/>
            <a:ext cx="4681728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5E7084"/>
                </a:solidFill>
                <a:latin typeface="Aptos"/>
              </a:defRPr>
            </a:pPr>
            <a:r>
              <a:t>TOTAL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81728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304E"/>
                </a:solidFill>
                <a:latin typeface="Aptos"/>
              </a:defRPr>
            </a:pPr>
            <a:r>
              <a:t>554K TL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16352"/>
            <a:ext cx="4681728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E7084"/>
                </a:solidFill>
                <a:latin typeface="Aptos"/>
              </a:defRPr>
            </a:pPr>
            <a:r>
              <a:t>Rounded value as displayed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00200"/>
            <a:ext cx="5029200" cy="1600200"/>
          </a:xfrm>
          <a:prstGeom prst="roundRect">
            <a:avLst/>
          </a:prstGeom>
          <a:solidFill>
            <a:srgbClr val="EEF3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600200"/>
            <a:ext cx="82296" cy="1600200"/>
          </a:xfrm>
          <a:prstGeom prst="rect">
            <a:avLst/>
          </a:prstGeom>
          <a:solidFill>
            <a:srgbClr val="24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1764792"/>
            <a:ext cx="4681728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5E7084"/>
                </a:solidFill>
                <a:latin typeface="Aptos"/>
              </a:defRPr>
            </a:pPr>
            <a:r>
              <a:t>TOTAL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130552"/>
            <a:ext cx="4681728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304E"/>
                </a:solidFill>
                <a:latin typeface="Aptos"/>
              </a:defRPr>
            </a:pPr>
            <a:r>
              <a:t>214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816352"/>
            <a:ext cx="4681728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E7084"/>
                </a:solidFill>
                <a:latin typeface="Aptos"/>
              </a:defRPr>
            </a:pPr>
            <a:r>
              <a:t>Dashboard display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5029200" cy="1600200"/>
          </a:xfrm>
          <a:prstGeom prst="roundRect">
            <a:avLst/>
          </a:prstGeom>
          <a:solidFill>
            <a:srgbClr val="EEF3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657600"/>
            <a:ext cx="82296" cy="1600200"/>
          </a:xfrm>
          <a:prstGeom prst="rect">
            <a:avLst/>
          </a:prstGeom>
          <a:solidFill>
            <a:srgbClr val="DA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822191"/>
            <a:ext cx="4681728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5E7084"/>
                </a:solidFill>
                <a:latin typeface="Aptos"/>
              </a:defRPr>
            </a:pPr>
            <a:r>
              <a:t>TOTAL TRANSACTIONS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187952"/>
            <a:ext cx="4681728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304E"/>
                </a:solidFill>
                <a:latin typeface="Aptos"/>
              </a:defRPr>
            </a:pPr>
            <a:r>
              <a:t>214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873752"/>
            <a:ext cx="4681728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E7084"/>
                </a:solidFill>
                <a:latin typeface="Aptos"/>
              </a:defRPr>
            </a:pPr>
            <a:r>
              <a:t>Dashboard display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657600"/>
            <a:ext cx="5029200" cy="1600200"/>
          </a:xfrm>
          <a:prstGeom prst="roundRect">
            <a:avLst/>
          </a:prstGeom>
          <a:solidFill>
            <a:srgbClr val="EEF3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657600"/>
            <a:ext cx="82296" cy="1600200"/>
          </a:xfrm>
          <a:prstGeom prst="rect">
            <a:avLst/>
          </a:prstGeom>
          <a:solidFill>
            <a:srgbClr val="2D6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3822191"/>
            <a:ext cx="4681728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5E7084"/>
                </a:solidFill>
                <a:latin typeface="Aptos"/>
              </a:defRPr>
            </a:pPr>
            <a:r>
              <a:t>TOTAL PRODUCTS SOLD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4187952"/>
            <a:ext cx="4681728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304E"/>
                </a:solidFill>
                <a:latin typeface="Aptos"/>
              </a:defRPr>
            </a:pPr>
            <a:r>
              <a:t>641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4873752"/>
            <a:ext cx="4681728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E7084"/>
                </a:solidFill>
                <a:latin typeface="Aptos"/>
              </a:defRPr>
            </a:pPr>
            <a:r>
              <a:t>Dashboard display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623560"/>
            <a:ext cx="1042416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5E7084"/>
                </a:solidFill>
                <a:latin typeface="Aptos"/>
              </a:defRPr>
            </a:pPr>
            <a:r>
              <a:t>Confirm the full-precision revenue and validate distinct customer / invoice counts before final submission.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9672"/>
            <a:ext cx="73152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E7084"/>
                </a:solidFill>
                <a:latin typeface="Aptos"/>
              </a:defRPr>
            </a:pPr>
            <a:r>
              <a:t>Prepared by Manmeet Suthar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519672"/>
            <a:ext cx="5943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E7084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2D6399"/>
                </a:solidFill>
                <a:latin typeface="Aptos"/>
              </a:defRPr>
            </a:pPr>
            <a:r>
              <a:t>PRDA-04 | CUSTOMER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304E"/>
                </a:solidFill>
                <a:latin typeface="Aptos"/>
              </a:defRPr>
            </a:pPr>
            <a:r>
              <a:t>Customer analysis: gender &amp; 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50292"/>
          </a:xfrm>
          <a:prstGeom prst="rect">
            <a:avLst/>
          </a:prstGeom>
          <a:solidFill>
            <a:srgbClr val="24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512064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858B"/>
                </a:solidFill>
                <a:latin typeface="Aptos"/>
              </a:defRPr>
            </a:pPr>
            <a:r>
              <a:t>GENDER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5029200" cy="2468880"/>
          </a:xfrm>
          <a:prstGeom prst="rect">
            <a:avLst/>
          </a:prstGeom>
          <a:noFill/>
        </p:spPr>
        <p:txBody>
          <a:bodyPr wrap="square" lIns="45720" rIns="73152" bIns="18288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Compare customer and transaction distribution by gender.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Compare total quantity purchased by each gender.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Compare total revenue generated by each gender.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08760"/>
            <a:ext cx="512064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858B"/>
                </a:solidFill>
                <a:latin typeface="Aptos"/>
              </a:defRPr>
            </a:pPr>
            <a:r>
              <a:t>AGE-GROUP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74519"/>
            <a:ext cx="5029200" cy="2468880"/>
          </a:xfrm>
          <a:prstGeom prst="rect">
            <a:avLst/>
          </a:prstGeom>
          <a:noFill/>
        </p:spPr>
        <p:txBody>
          <a:bodyPr wrap="square" lIns="45720" rIns="73152" bIns="18288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Group customers into age bands and compare activity.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Compare quantity sold across age groups.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Compare revenue contribution by age group.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92040"/>
            <a:ext cx="10424160" cy="7772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9304E"/>
                </a:solidFill>
                <a:latin typeface="Aptos"/>
              </a:defRPr>
            </a:pPr>
            <a:r>
              <a:t>The supplied KPI screenshot does not show readable segment totals. The leading gender and age group should be identified from the detailed Power BI charts.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9672"/>
            <a:ext cx="73152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E7084"/>
                </a:solidFill>
                <a:latin typeface="Aptos"/>
              </a:defRPr>
            </a:pPr>
            <a:r>
              <a:t>Prepared by Manmeet Suthar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9672"/>
            <a:ext cx="5943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E7084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2D6399"/>
                </a:solidFill>
                <a:latin typeface="Aptos"/>
              </a:defRPr>
            </a:pPr>
            <a:r>
              <a:t>PRDA-04 | CUSTOMER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304E"/>
                </a:solidFill>
                <a:latin typeface="Aptos"/>
              </a:defRPr>
            </a:pPr>
            <a:r>
              <a:t>Product category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50292"/>
          </a:xfrm>
          <a:prstGeom prst="rect">
            <a:avLst/>
          </a:prstGeom>
          <a:solidFill>
            <a:srgbClr val="24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502920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858B"/>
                </a:solidFill>
                <a:latin typeface="Aptos"/>
              </a:defRPr>
            </a:pPr>
            <a:r>
              <a:t>WHAT TO COMPARE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4937760" cy="3291840"/>
          </a:xfrm>
          <a:prstGeom prst="rect">
            <a:avLst/>
          </a:prstGeom>
          <a:noFill/>
        </p:spPr>
        <p:txBody>
          <a:bodyPr wrap="square" lIns="45720" rIns="73152" bIns="18288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Category-wise revenue and quantity</a:t>
            </a:r>
          </a:p>
          <a:p>
            <a:pPr>
              <a:spcAft>
                <a:spcPts val="10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Category preferences by gender</a:t>
            </a:r>
          </a:p>
          <a:p>
            <a:pPr>
              <a:spcAft>
                <a:spcPts val="10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Category preferences by age group</a:t>
            </a:r>
          </a:p>
          <a:p>
            <a:pPr>
              <a:spcAft>
                <a:spcPts val="10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Category mix across shopping malls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00200"/>
            <a:ext cx="5212080" cy="4023360"/>
          </a:xfrm>
          <a:prstGeom prst="roundRect">
            <a:avLst/>
          </a:prstGeom>
          <a:solidFill>
            <a:srgbClr val="EEF3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965960"/>
            <a:ext cx="457200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D6399"/>
                </a:solidFill>
                <a:latin typeface="Aptos"/>
              </a:defRPr>
            </a:pPr>
            <a:r>
              <a:t>BUSINESS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06040"/>
            <a:ext cx="4526280" cy="21945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9304E"/>
                </a:solidFill>
                <a:latin typeface="Aptos"/>
              </a:defRPr>
            </a:pPr>
            <a:r>
              <a:t>Identify product groups with stronger demand and revenue. Use these comparisons to support stock planning, product promotions and customer-focused offers.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4892040"/>
            <a:ext cx="452628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E7084"/>
                </a:solidFill>
                <a:latin typeface="Aptos"/>
              </a:defRPr>
            </a:pPr>
            <a:r>
              <a:t>Do not name a top category without checking chart values.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9672"/>
            <a:ext cx="73152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E7084"/>
                </a:solidFill>
                <a:latin typeface="Aptos"/>
              </a:defRPr>
            </a:pPr>
            <a:r>
              <a:t>Prepared by Manmeet Suthar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19672"/>
            <a:ext cx="5943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E7084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2D6399"/>
                </a:solidFill>
                <a:latin typeface="Aptos"/>
              </a:defRPr>
            </a:pPr>
            <a:r>
              <a:t>PRDA-04 | CUSTOMER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304E"/>
                </a:solidFill>
                <a:latin typeface="Aptos"/>
              </a:defRPr>
            </a:pPr>
            <a:r>
              <a:t>Payment method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50292"/>
          </a:xfrm>
          <a:prstGeom prst="rect">
            <a:avLst/>
          </a:prstGeom>
          <a:solidFill>
            <a:srgbClr val="24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3154680" cy="1234440"/>
          </a:xfrm>
          <a:prstGeom prst="roundRect">
            <a:avLst/>
          </a:prstGeom>
          <a:solidFill>
            <a:srgbClr val="EEF3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278892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2D6399"/>
                </a:solidFill>
                <a:latin typeface="Aptos"/>
              </a:defRPr>
            </a:pPr>
            <a:r>
              <a:t>CASH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691640"/>
            <a:ext cx="3154680" cy="1234440"/>
          </a:xfrm>
          <a:prstGeom prst="roundRect">
            <a:avLst/>
          </a:prstGeom>
          <a:solidFill>
            <a:srgbClr val="EEF3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2057400"/>
            <a:ext cx="278892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24858B"/>
                </a:solidFill>
                <a:latin typeface="Aptos"/>
              </a:defRPr>
            </a:pPr>
            <a:r>
              <a:t>CREDIT CARD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691640"/>
            <a:ext cx="3154680" cy="1234440"/>
          </a:xfrm>
          <a:prstGeom prst="roundRect">
            <a:avLst/>
          </a:prstGeom>
          <a:solidFill>
            <a:srgbClr val="EEF3F8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2057400"/>
            <a:ext cx="278892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DAA441"/>
                </a:solidFill>
                <a:latin typeface="Aptos"/>
              </a:defRPr>
            </a:pPr>
            <a:r>
              <a:t>DEBIT CARD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484632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858B"/>
                </a:solidFill>
                <a:latin typeface="Aptos"/>
              </a:defRPr>
            </a:pPr>
            <a:r>
              <a:t>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4846320" cy="1828800"/>
          </a:xfrm>
          <a:prstGeom prst="rect">
            <a:avLst/>
          </a:prstGeom>
          <a:noFill/>
        </p:spPr>
        <p:txBody>
          <a:bodyPr wrap="square" lIns="45720" rIns="73152" bIns="18288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Compare transaction counts and shares.</a:t>
            </a:r>
          </a:p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Compare usage by gender and age group.</a:t>
            </a:r>
          </a:p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Compare payment method with category and mall.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429000"/>
            <a:ext cx="4846320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858B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794760"/>
            <a:ext cx="4754880" cy="1645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304E"/>
                </a:solidFill>
                <a:latin typeface="Aptos"/>
              </a:defRPr>
            </a:pPr>
            <a:r>
              <a:t>These comparisons can reveal associations in customer payment behaviour. They do not prove that one customer attribute causes a payment choice.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73152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E7084"/>
                </a:solidFill>
                <a:latin typeface="Aptos"/>
              </a:defRPr>
            </a:pPr>
            <a:r>
              <a:t>Prepared by Manmeet Suthar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19672"/>
            <a:ext cx="5943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E7084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2D6399"/>
                </a:solidFill>
                <a:latin typeface="Aptos"/>
              </a:defRPr>
            </a:pPr>
            <a:r>
              <a:t>PRDA-04 | CUSTOMER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3035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304E"/>
                </a:solidFill>
                <a:latin typeface="Aptos"/>
              </a:defRPr>
            </a:pPr>
            <a:r>
              <a:t>Business insights &amp;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50292"/>
          </a:xfrm>
          <a:prstGeom prst="rect">
            <a:avLst/>
          </a:prstGeom>
          <a:solidFill>
            <a:srgbClr val="24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5029200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24858B"/>
                </a:solidFill>
                <a:latin typeface="Aptos"/>
              </a:defRPr>
            </a:pPr>
            <a:r>
              <a:t>Customer segmentation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56231"/>
            <a:ext cx="4983480" cy="6858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2B34"/>
                </a:solidFill>
                <a:latin typeface="Aptos"/>
              </a:defRPr>
            </a:pPr>
            <a:r>
              <a:t>Tailor campaigns using gender and age-group comparisons.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508760"/>
            <a:ext cx="5029200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24858B"/>
                </a:solidFill>
                <a:latin typeface="Aptos"/>
              </a:defRPr>
            </a:pPr>
            <a:r>
              <a:t>Inventory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56231"/>
            <a:ext cx="4983480" cy="6858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2B34"/>
                </a:solidFill>
                <a:latin typeface="Aptos"/>
              </a:defRPr>
            </a:pPr>
            <a:r>
              <a:t>Use category-wise quantity and revenue to guide stock levels.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90088"/>
            <a:ext cx="5029200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24858B"/>
                </a:solidFill>
                <a:latin typeface="Aptos"/>
              </a:defRPr>
            </a:pPr>
            <a:r>
              <a:t>Payment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4983480" cy="6858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2B34"/>
                </a:solidFill>
                <a:latin typeface="Aptos"/>
              </a:defRPr>
            </a:pPr>
            <a:r>
              <a:t>Support commonly used cash, credit and debit options.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990088"/>
            <a:ext cx="5029200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24858B"/>
                </a:solidFill>
                <a:latin typeface="Aptos"/>
              </a:defRPr>
            </a:pPr>
            <a:r>
              <a:t>Mall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337560"/>
            <a:ext cx="4983480" cy="6858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2B34"/>
                </a:solidFill>
                <a:latin typeface="Aptos"/>
              </a:defRPr>
            </a:pPr>
            <a:r>
              <a:t>Compare locations before assigning promotional budgets.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71416"/>
            <a:ext cx="5029200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24858B"/>
                </a:solidFill>
                <a:latin typeface="Aptos"/>
              </a:defRPr>
            </a:pPr>
            <a:r>
              <a:t>Seasonal 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18888"/>
            <a:ext cx="4983480" cy="6858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2B34"/>
                </a:solidFill>
                <a:latin typeface="Aptos"/>
              </a:defRPr>
            </a:pPr>
            <a:r>
              <a:t>Use monthly revenue trends to plan campaigns and staffing.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471416"/>
            <a:ext cx="5029200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24858B"/>
                </a:solidFill>
                <a:latin typeface="Aptos"/>
              </a:defRPr>
            </a:pPr>
            <a:r>
              <a:t>Data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818888"/>
            <a:ext cx="4983480" cy="6858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2B34"/>
                </a:solidFill>
                <a:latin typeface="Aptos"/>
              </a:defRPr>
            </a:pPr>
            <a:r>
              <a:t>Validate records, types, duplicates and measure definitions.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9672"/>
            <a:ext cx="73152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E7084"/>
                </a:solidFill>
                <a:latin typeface="Aptos"/>
              </a:defRPr>
            </a:pPr>
            <a:r>
              <a:t>Prepared by Manmeet Suthar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19672"/>
            <a:ext cx="5943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E7084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AECDE7"/>
                </a:solidFill>
                <a:latin typeface="Aptos"/>
              </a:defRPr>
            </a:pPr>
            <a:r>
              <a:t>PRDA-04 | CUSTOMER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6858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9966960" cy="1508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Power BI brings customer, product, payment and sales information together in one view. The current dashboard reports 214 customers, 214 transactions, 641 products sold and approximately 554K TL in revenue.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251960"/>
            <a:ext cx="9875520" cy="8686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D3E2F0"/>
                </a:solidFill>
                <a:latin typeface="Aptos"/>
              </a:defRPr>
            </a:pPr>
            <a:r>
              <a:t>Final segment rankings should be added from the detailed charts so that every conclusion is supported by the actual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715000"/>
            <a:ext cx="594360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AECDE7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00584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